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>
        <p:scale>
          <a:sx n="33" d="100"/>
          <a:sy n="33" d="100"/>
        </p:scale>
        <p:origin x="1618" y="-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584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A76F12D-2985-47C3-A07C-9F03DD159D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Pretendard JP" panose="02000503000000020004" pitchFamily="2" charset="-128"/>
              <a:ea typeface="Pretendard JP" panose="02000503000000020004" pitchFamily="2" charset="-128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F83A19-1DC2-46DB-B3A1-ECF7C417E9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82194B-B347-4406-B189-6812C9FF41EA}" type="datetime1">
              <a:rPr lang="ko-KR" altLang="en-US" smtClean="0">
                <a:latin typeface="Pretendard JP" panose="02000503000000020004" pitchFamily="2" charset="-128"/>
                <a:ea typeface="Pretendard JP" panose="02000503000000020004" pitchFamily="2" charset="-128"/>
              </a:rPr>
              <a:t>2026-05-05</a:t>
            </a:fld>
            <a:endParaRPr lang="ko-KR" altLang="en-US" dirty="0">
              <a:latin typeface="Pretendard JP" panose="02000503000000020004" pitchFamily="2" charset="-128"/>
              <a:ea typeface="Pretendard JP" panose="02000503000000020004" pitchFamily="2" charset="-128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3D6289-F1C3-4041-A186-E428808BD1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Pretendard JP" panose="02000503000000020004" pitchFamily="2" charset="-128"/>
              <a:ea typeface="Pretendard JP" panose="02000503000000020004" pitchFamily="2" charset="-128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17ECA2-D3CC-4290-9914-977FED6D36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D98A85-43CB-4CDC-8FF1-647F52B29F1B}" type="slidenum">
              <a:rPr lang="en-US" altLang="ko-KR" smtClean="0">
                <a:latin typeface="Pretendard JP" panose="02000503000000020004" pitchFamily="2" charset="-128"/>
                <a:ea typeface="Pretendard JP" panose="02000503000000020004" pitchFamily="2" charset="-128"/>
              </a:rPr>
              <a:t>‹#›</a:t>
            </a:fld>
            <a:endParaRPr lang="ko-KR" altLang="en-US" dirty="0">
              <a:latin typeface="Pretendard JP" panose="02000503000000020004" pitchFamily="2" charset="-128"/>
              <a:ea typeface="Pretendard JP" panose="020005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1091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etendard JP" panose="02000503000000020004" pitchFamily="2" charset="-128"/>
                <a:ea typeface="Pretendard JP" panose="020005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etendard JP" panose="02000503000000020004" pitchFamily="2" charset="-128"/>
                <a:ea typeface="Pretendard JP" panose="02000503000000020004" pitchFamily="2" charset="-128"/>
              </a:defRPr>
            </a:lvl1pPr>
          </a:lstStyle>
          <a:p>
            <a:fld id="{0505E2AF-51B0-4195-89F3-B98EB582ABD2}" type="datetime1">
              <a:rPr lang="ko-KR" altLang="en-US" smtClean="0"/>
              <a:pPr/>
              <a:t>2026-05-05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etendard JP" panose="02000503000000020004" pitchFamily="2" charset="-128"/>
                <a:ea typeface="Pretendard JP" panose="020005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etendard JP" panose="02000503000000020004" pitchFamily="2" charset="-128"/>
                <a:ea typeface="Pretendard JP" panose="02000503000000020004" pitchFamily="2" charset="-128"/>
              </a:defRPr>
            </a:lvl1pPr>
          </a:lstStyle>
          <a:p>
            <a:fld id="{CF3B4569-3B6E-468D-B981-DA515F47BCE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2088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817724" rtl="0" eaLnBrk="1" latinLnBrk="0" hangingPunct="1">
      <a:defRPr sz="3698" b="0" i="0" kern="1200">
        <a:solidFill>
          <a:schemeClr val="tx1"/>
        </a:solidFill>
        <a:latin typeface="Pretendard JP" panose="02000503000000020004" pitchFamily="2" charset="-128"/>
        <a:ea typeface="Pretendard JP" panose="02000503000000020004" pitchFamily="2" charset="-128"/>
        <a:cs typeface="+mn-cs"/>
      </a:defRPr>
    </a:lvl1pPr>
    <a:lvl2pPr marL="1408862" algn="l" defTabSz="2817724" rtl="0" eaLnBrk="1" latinLnBrk="0" hangingPunct="1">
      <a:defRPr sz="3698" b="0" i="0" kern="1200">
        <a:solidFill>
          <a:schemeClr val="tx1"/>
        </a:solidFill>
        <a:latin typeface="Pretendard JP" panose="02000503000000020004" pitchFamily="2" charset="-128"/>
        <a:ea typeface="Pretendard JP" panose="02000503000000020004" pitchFamily="2" charset="-128"/>
        <a:cs typeface="+mn-cs"/>
      </a:defRPr>
    </a:lvl2pPr>
    <a:lvl3pPr marL="2817724" algn="l" defTabSz="2817724" rtl="0" eaLnBrk="1" latinLnBrk="0" hangingPunct="1">
      <a:defRPr sz="3698" b="0" i="0" kern="1200">
        <a:solidFill>
          <a:schemeClr val="tx1"/>
        </a:solidFill>
        <a:latin typeface="Pretendard JP" panose="02000503000000020004" pitchFamily="2" charset="-128"/>
        <a:ea typeface="Pretendard JP" panose="02000503000000020004" pitchFamily="2" charset="-128"/>
        <a:cs typeface="+mn-cs"/>
      </a:defRPr>
    </a:lvl3pPr>
    <a:lvl4pPr marL="4226585" algn="l" defTabSz="2817724" rtl="0" eaLnBrk="1" latinLnBrk="0" hangingPunct="1">
      <a:defRPr sz="3698" b="0" i="0" kern="1200">
        <a:solidFill>
          <a:schemeClr val="tx1"/>
        </a:solidFill>
        <a:latin typeface="Pretendard JP" panose="02000503000000020004" pitchFamily="2" charset="-128"/>
        <a:ea typeface="Pretendard JP" panose="02000503000000020004" pitchFamily="2" charset="-128"/>
        <a:cs typeface="+mn-cs"/>
      </a:defRPr>
    </a:lvl4pPr>
    <a:lvl5pPr marL="5635447" algn="l" defTabSz="2817724" rtl="0" eaLnBrk="1" latinLnBrk="0" hangingPunct="1">
      <a:defRPr sz="3698" b="0" i="0" kern="1200">
        <a:solidFill>
          <a:schemeClr val="tx1"/>
        </a:solidFill>
        <a:latin typeface="Pretendard JP" panose="02000503000000020004" pitchFamily="2" charset="-128"/>
        <a:ea typeface="Pretendard JP" panose="02000503000000020004" pitchFamily="2" charset="-128"/>
        <a:cs typeface="+mn-cs"/>
      </a:defRPr>
    </a:lvl5pPr>
    <a:lvl6pPr marL="7044309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6pPr>
    <a:lvl7pPr marL="8453171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7pPr>
    <a:lvl8pPr marL="9862033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8pPr>
    <a:lvl9pPr marL="11270894" algn="l" defTabSz="2817724" rtl="0" eaLnBrk="1" latinLnBrk="0" hangingPunct="1">
      <a:defRPr sz="3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9975" y="1143000"/>
            <a:ext cx="217805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F3B4569-3B6E-468D-B981-DA515F47BCE4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569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9E8CE0E-44A3-3AED-7961-C6C0612C6C52}"/>
              </a:ext>
            </a:extLst>
          </p:cNvPr>
          <p:cNvSpPr/>
          <p:nvPr userDrawn="1"/>
        </p:nvSpPr>
        <p:spPr>
          <a:xfrm>
            <a:off x="-8247" y="1353775"/>
            <a:ext cx="21391872" cy="1799004"/>
          </a:xfrm>
          <a:prstGeom prst="rect">
            <a:avLst/>
          </a:prstGeom>
          <a:solidFill>
            <a:srgbClr val="3A58DB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547" b="0" i="0" dirty="0">
              <a:ea typeface="Pretendard JP" panose="02000503000000020004" pitchFamily="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6051" y="1692622"/>
            <a:ext cx="11520756" cy="1121309"/>
          </a:xfrm>
          <a:noFill/>
          <a:ln>
            <a:noFill/>
          </a:ln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프로젝트 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088C-225E-4930-B050-8C22A576A1C5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9940E6-F822-94A3-3117-EB06B0028193}"/>
              </a:ext>
            </a:extLst>
          </p:cNvPr>
          <p:cNvSpPr/>
          <p:nvPr userDrawn="1"/>
        </p:nvSpPr>
        <p:spPr>
          <a:xfrm>
            <a:off x="-8247" y="29395421"/>
            <a:ext cx="21383625" cy="879794"/>
          </a:xfrm>
          <a:prstGeom prst="rect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547" b="0" i="0" dirty="0">
              <a:ea typeface="Pretendard JP" panose="02000503000000020004" pitchFamily="2" charset="-128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BD2C88-5CF4-9E58-B354-6C1F35EF95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59" y="-306226"/>
            <a:ext cx="1854242" cy="1817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8C61B-A94F-CAFB-CFBF-DD73E56A2CDA}"/>
              </a:ext>
            </a:extLst>
          </p:cNvPr>
          <p:cNvSpPr txBox="1"/>
          <p:nvPr userDrawn="1"/>
        </p:nvSpPr>
        <p:spPr>
          <a:xfrm>
            <a:off x="11702344" y="247060"/>
            <a:ext cx="9444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0" i="0" dirty="0">
                <a:solidFill>
                  <a:schemeClr val="tx1">
                    <a:lumMod val="85000"/>
                    <a:lumOff val="15000"/>
                  </a:schemeClr>
                </a:solidFill>
                <a:ea typeface="Pretendard JP" panose="02000503000000020004" pitchFamily="2" charset="-128"/>
              </a:rPr>
              <a:t>Incheon National University</a:t>
            </a:r>
          </a:p>
          <a:p>
            <a:pPr algn="r"/>
            <a:r>
              <a:rPr lang="en-US" altLang="ko-KR" sz="2400" b="0" i="0" dirty="0">
                <a:solidFill>
                  <a:schemeClr val="tx1">
                    <a:lumMod val="85000"/>
                    <a:lumOff val="15000"/>
                  </a:schemeClr>
                </a:solidFill>
                <a:ea typeface="Pretendard JP" panose="02000503000000020004" pitchFamily="2" charset="-128"/>
              </a:rPr>
              <a:t>Data Science Team</a:t>
            </a:r>
            <a:endParaRPr lang="ko-KR" altLang="en-US" sz="2400" b="0" i="0" dirty="0">
              <a:solidFill>
                <a:schemeClr val="tx1">
                  <a:lumMod val="85000"/>
                  <a:lumOff val="15000"/>
                </a:schemeClr>
              </a:solidFill>
              <a:ea typeface="Pretendard JP" panose="02000503000000020004" pitchFamily="2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E58EC-144A-BA83-2490-A92C7A690896}"/>
              </a:ext>
            </a:extLst>
          </p:cNvPr>
          <p:cNvSpPr txBox="1"/>
          <p:nvPr userDrawn="1"/>
        </p:nvSpPr>
        <p:spPr>
          <a:xfrm>
            <a:off x="7998733" y="29616416"/>
            <a:ext cx="5369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0" i="0" dirty="0">
                <a:solidFill>
                  <a:schemeClr val="bg1"/>
                </a:solidFill>
                <a:latin typeface="Pretendard JP" panose="02000503000000020004" pitchFamily="2" charset="-128"/>
                <a:ea typeface="Pretendard JP" panose="02000503000000020004" pitchFamily="2" charset="-128"/>
              </a:rPr>
              <a:t>Shall We Data?</a:t>
            </a:r>
            <a:endParaRPr lang="ko-KR" altLang="en-US" sz="3200" b="0" i="0" dirty="0">
              <a:solidFill>
                <a:schemeClr val="bg1"/>
              </a:solidFill>
              <a:latin typeface="Pretendard JP" panose="02000503000000020004" pitchFamily="2" charset="-128"/>
              <a:ea typeface="Pretendard JP" panose="020005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367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F8D1-7768-427F-8DC0-7C48FCEE6856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0817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D7CE7-DA76-4D39-B3BD-F65806677B93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0593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5677-F7EB-4088-9A10-51628F72D782}" type="datetime1">
              <a:rPr lang="ko-KR" altLang="en-US" smtClean="0"/>
              <a:pPr/>
              <a:t>2026-05-05</a:t>
            </a:fld>
            <a:endParaRPr lang="ko-KR" altLang="en-US" dirty="0">
              <a:latin typeface="Pretendard JP" panose="02000503000000020004" pitchFamily="2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Pretendard JP" panose="020005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ko-KR" smtClean="0"/>
              <a:pPr/>
              <a:t>‹#›</a:t>
            </a:fld>
            <a:endParaRPr lang="ko-KR" altLang="en-US" dirty="0">
              <a:latin typeface="Pretendard JP" panose="020005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30902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A5448B1-33C7-44E6-AE8B-65D8EC98E54A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5750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3371D78-6A6D-4EF5-A8AC-B265EAB5D80D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3308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5677-F7EB-4088-9A10-51628F72D782}" type="datetime1">
              <a:rPr lang="ko-KR" altLang="en-US" smtClean="0"/>
              <a:pPr/>
              <a:t>2026-05-05</a:t>
            </a:fld>
            <a:endParaRPr lang="ko-KR" altLang="en-US" dirty="0">
              <a:latin typeface="Pretendard JP" panose="02000503000000020004" pitchFamily="2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Pretendard JP" panose="020005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altLang="ko-KR" smtClean="0"/>
              <a:pPr/>
              <a:t>‹#›</a:t>
            </a:fld>
            <a:endParaRPr lang="ko-KR" altLang="en-US" dirty="0">
              <a:latin typeface="Pretendard JP" panose="020005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22893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AF99021-1D69-4B9D-A982-74633F32A051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1404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86A0FA5-562A-4DC1-99E2-77E647CE9064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8905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5D0C6D9-129E-4596-A44F-0296D005B6ED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11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8EF0139-0875-4043-AB68-2870FCD802E2}" type="datetime1">
              <a:rPr lang="ko-KR" altLang="en-US" noProof="0" smtClean="0"/>
              <a:t>2026-05-05</a:t>
            </a:fld>
            <a:endParaRPr lang="ko-KR" alt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1929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 b="0" i="0">
                <a:solidFill>
                  <a:schemeClr val="tx1">
                    <a:tint val="82000"/>
                  </a:schemeClr>
                </a:solidFill>
                <a:ea typeface="Pretendard JP" panose="02000503000000020004" pitchFamily="2" charset="-128"/>
              </a:defRPr>
            </a:lvl1pPr>
          </a:lstStyle>
          <a:p>
            <a:fld id="{5B2B5677-F7EB-4088-9A10-51628F72D782}" type="datetime1">
              <a:rPr lang="ko-KR" altLang="en-US" smtClean="0"/>
              <a:pPr/>
              <a:t>2026-05-05</a:t>
            </a:fld>
            <a:endParaRPr lang="ko-KR" altLang="en-US" dirty="0">
              <a:latin typeface="Pretendard JP" panose="02000503000000020004" pitchFamily="2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 b="0" i="0">
                <a:solidFill>
                  <a:schemeClr val="tx1">
                    <a:tint val="82000"/>
                  </a:schemeClr>
                </a:solidFill>
                <a:latin typeface="Pretendard JP" panose="02000503000000020004" pitchFamily="2" charset="-128"/>
                <a:ea typeface="Pretendard JP" panose="02000503000000020004" pitchFamily="2" charset="-128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 b="0" i="0">
                <a:solidFill>
                  <a:schemeClr val="tx1">
                    <a:tint val="82000"/>
                  </a:schemeClr>
                </a:solidFill>
                <a:ea typeface="Pretendard JP" panose="02000503000000020004" pitchFamily="2" charset="-128"/>
              </a:defRPr>
            </a:lvl1pPr>
          </a:lstStyle>
          <a:p>
            <a:fld id="{6D22F896-40B5-4ADD-8801-0D06FADFA095}" type="slidenum">
              <a:rPr lang="en-US" altLang="ko-KR" smtClean="0"/>
              <a:pPr/>
              <a:t>‹#›</a:t>
            </a:fld>
            <a:endParaRPr lang="ko-KR" altLang="en-US" dirty="0">
              <a:latin typeface="Pretendard JP" panose="02000503000000020004" pitchFamily="2" charset="-128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B1D162-DCB6-BC48-15DA-7D6CBFA23C9E}"/>
              </a:ext>
            </a:extLst>
          </p:cNvPr>
          <p:cNvSpPr/>
          <p:nvPr userDrawn="1"/>
        </p:nvSpPr>
        <p:spPr>
          <a:xfrm>
            <a:off x="449367" y="425027"/>
            <a:ext cx="20484892" cy="29425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547" b="0" i="0" dirty="0">
              <a:ea typeface="Pretendard JP" panose="02000503000000020004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955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b="0" i="0" kern="1200">
          <a:solidFill>
            <a:schemeClr val="tx1"/>
          </a:solidFill>
          <a:latin typeface="+mj-lt"/>
          <a:ea typeface="Pretendard JP" panose="02000503000000020004" pitchFamily="2" charset="-128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b="0" i="0" kern="1200">
          <a:solidFill>
            <a:schemeClr val="tx1"/>
          </a:solidFill>
          <a:latin typeface="+mn-lt"/>
          <a:ea typeface="Pretendard JP" panose="02000503000000020004" pitchFamily="2" charset="-128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b="0" i="0" kern="1200">
          <a:solidFill>
            <a:schemeClr val="tx1"/>
          </a:solidFill>
          <a:latin typeface="+mn-lt"/>
          <a:ea typeface="Pretendard JP" panose="02000503000000020004" pitchFamily="2" charset="-128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b="0" i="0" kern="1200">
          <a:solidFill>
            <a:schemeClr val="tx1"/>
          </a:solidFill>
          <a:latin typeface="+mn-lt"/>
          <a:ea typeface="Pretendard JP" panose="02000503000000020004" pitchFamily="2" charset="-128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b="0" i="0" kern="1200">
          <a:solidFill>
            <a:schemeClr val="tx1"/>
          </a:solidFill>
          <a:latin typeface="+mn-lt"/>
          <a:ea typeface="Pretendard JP" panose="02000503000000020004" pitchFamily="2" charset="-128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b="0" i="0" kern="1200">
          <a:solidFill>
            <a:schemeClr val="tx1"/>
          </a:solidFill>
          <a:latin typeface="+mn-lt"/>
          <a:ea typeface="Pretendard JP" panose="02000503000000020004" pitchFamily="2" charset="-128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D0D7F42-7441-A3C9-3065-E5AC336C5346}"/>
              </a:ext>
            </a:extLst>
          </p:cNvPr>
          <p:cNvSpPr/>
          <p:nvPr/>
        </p:nvSpPr>
        <p:spPr>
          <a:xfrm>
            <a:off x="11138833" y="5266819"/>
            <a:ext cx="9585477" cy="72918"/>
          </a:xfrm>
          <a:prstGeom prst="rect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F153C-4157-F521-7A2C-F2514B1AFD28}"/>
              </a:ext>
            </a:extLst>
          </p:cNvPr>
          <p:cNvSpPr txBox="1"/>
          <p:nvPr/>
        </p:nvSpPr>
        <p:spPr>
          <a:xfrm>
            <a:off x="11138833" y="4620488"/>
            <a:ext cx="400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3A58DB"/>
                </a:solidFill>
                <a:latin typeface="Pretendard JP SemiBold" panose="02000503000000020004" pitchFamily="2" charset="-128"/>
                <a:ea typeface="Pretendard JP SemiBold" panose="02000503000000020004" pitchFamily="2" charset="-128"/>
                <a:cs typeface="Pretendard JP SemiBold" panose="02000503000000020004" pitchFamily="2" charset="-128"/>
              </a:rPr>
              <a:t>사용 데이터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B3C03B-53BC-4812-CDB1-E189A2BF8D7E}"/>
              </a:ext>
            </a:extLst>
          </p:cNvPr>
          <p:cNvSpPr/>
          <p:nvPr/>
        </p:nvSpPr>
        <p:spPr>
          <a:xfrm>
            <a:off x="659315" y="5266819"/>
            <a:ext cx="9585477" cy="72918"/>
          </a:xfrm>
          <a:prstGeom prst="rect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2D19EB-B49F-CE3E-83F7-F289BB7C364A}"/>
              </a:ext>
            </a:extLst>
          </p:cNvPr>
          <p:cNvSpPr txBox="1"/>
          <p:nvPr/>
        </p:nvSpPr>
        <p:spPr>
          <a:xfrm>
            <a:off x="659315" y="4620488"/>
            <a:ext cx="34083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3A58DB"/>
                </a:solidFill>
                <a:latin typeface="Pretendard JP SemiBold" panose="02000503000000020004" pitchFamily="2" charset="-128"/>
                <a:ea typeface="Pretendard JP SemiBold" panose="02000503000000020004" pitchFamily="2" charset="-128"/>
                <a:cs typeface="Pretendard JP SemiBold" panose="02000503000000020004" pitchFamily="2" charset="-128"/>
              </a:rPr>
              <a:t>프로젝트 선정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A1E532-FF18-8463-7AB5-FA207536C7EA}"/>
              </a:ext>
            </a:extLst>
          </p:cNvPr>
          <p:cNvSpPr/>
          <p:nvPr/>
        </p:nvSpPr>
        <p:spPr>
          <a:xfrm>
            <a:off x="659315" y="11744196"/>
            <a:ext cx="9585477" cy="72918"/>
          </a:xfrm>
          <a:prstGeom prst="rect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CB2784-B5AF-8C0B-C9A0-61BFA0E726AA}"/>
              </a:ext>
            </a:extLst>
          </p:cNvPr>
          <p:cNvSpPr txBox="1"/>
          <p:nvPr/>
        </p:nvSpPr>
        <p:spPr>
          <a:xfrm>
            <a:off x="659315" y="11097865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3A58DB"/>
                </a:solidFill>
                <a:latin typeface="Pretendard JP SemiBold" panose="02000503000000020004" pitchFamily="2" charset="-128"/>
                <a:ea typeface="Pretendard JP SemiBold" panose="02000503000000020004" pitchFamily="2" charset="-128"/>
                <a:cs typeface="Pretendard JP SemiBold" panose="02000503000000020004" pitchFamily="2" charset="-128"/>
              </a:rPr>
              <a:t>데이터 분석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92117A-404A-0321-38BC-DF28684A29FC}"/>
              </a:ext>
            </a:extLst>
          </p:cNvPr>
          <p:cNvSpPr/>
          <p:nvPr/>
        </p:nvSpPr>
        <p:spPr>
          <a:xfrm>
            <a:off x="10691812" y="12517111"/>
            <a:ext cx="9585477" cy="72918"/>
          </a:xfrm>
          <a:prstGeom prst="rect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CD16B4-A9EA-2B40-1A85-5928B5F257A2}"/>
              </a:ext>
            </a:extLst>
          </p:cNvPr>
          <p:cNvSpPr txBox="1"/>
          <p:nvPr/>
        </p:nvSpPr>
        <p:spPr>
          <a:xfrm>
            <a:off x="10836757" y="11892045"/>
            <a:ext cx="33970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3A58DB"/>
                </a:solidFill>
                <a:latin typeface="Pretendard JP SemiBold" panose="02000503000000020004" pitchFamily="2" charset="-128"/>
                <a:ea typeface="Pretendard JP SemiBold" panose="02000503000000020004" pitchFamily="2" charset="-128"/>
                <a:cs typeface="Pretendard JP SemiBold" panose="02000503000000020004" pitchFamily="2" charset="-128"/>
              </a:rPr>
              <a:t>데이터 분석결과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DBB09B-3F0D-D191-DA10-0ACEAE79EB32}"/>
              </a:ext>
            </a:extLst>
          </p:cNvPr>
          <p:cNvSpPr/>
          <p:nvPr/>
        </p:nvSpPr>
        <p:spPr>
          <a:xfrm>
            <a:off x="659312" y="22660615"/>
            <a:ext cx="9585477" cy="72918"/>
          </a:xfrm>
          <a:prstGeom prst="rect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B3B81F-D035-8A51-FE25-15B69A32FDF2}"/>
              </a:ext>
            </a:extLst>
          </p:cNvPr>
          <p:cNvSpPr txBox="1"/>
          <p:nvPr/>
        </p:nvSpPr>
        <p:spPr>
          <a:xfrm>
            <a:off x="659312" y="22014284"/>
            <a:ext cx="3536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3A58DB"/>
                </a:solidFill>
                <a:latin typeface="Pretendard JP SemiBold" panose="02000503000000020004" pitchFamily="2" charset="-128"/>
                <a:ea typeface="Pretendard JP SemiBold" panose="02000503000000020004" pitchFamily="2" charset="-128"/>
                <a:cs typeface="Pretendard JP SemiBold" panose="02000503000000020004" pitchFamily="2" charset="-128"/>
              </a:rPr>
              <a:t>결론 및 예상효과</a:t>
            </a:r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F7A5B588-713A-4A3E-1EB1-1D3A4F889316}"/>
              </a:ext>
            </a:extLst>
          </p:cNvPr>
          <p:cNvSpPr/>
          <p:nvPr/>
        </p:nvSpPr>
        <p:spPr>
          <a:xfrm rot="16200000">
            <a:off x="9890007" y="22305833"/>
            <a:ext cx="354782" cy="354782"/>
          </a:xfrm>
          <a:prstGeom prst="rtTriangle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28" name="직각 삼각형 27">
            <a:extLst>
              <a:ext uri="{FF2B5EF4-FFF2-40B4-BE49-F238E27FC236}">
                <a16:creationId xmlns:a16="http://schemas.microsoft.com/office/drawing/2014/main" id="{27AC3435-1E2A-EBA6-2E7A-82EBE10D768F}"/>
              </a:ext>
            </a:extLst>
          </p:cNvPr>
          <p:cNvSpPr/>
          <p:nvPr/>
        </p:nvSpPr>
        <p:spPr>
          <a:xfrm rot="16200000">
            <a:off x="9890010" y="11389413"/>
            <a:ext cx="354782" cy="354782"/>
          </a:xfrm>
          <a:prstGeom prst="rtTriangle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29" name="직각 삼각형 28">
            <a:extLst>
              <a:ext uri="{FF2B5EF4-FFF2-40B4-BE49-F238E27FC236}">
                <a16:creationId xmlns:a16="http://schemas.microsoft.com/office/drawing/2014/main" id="{63229A13-0B7F-9EEA-4A93-68E12C72CB64}"/>
              </a:ext>
            </a:extLst>
          </p:cNvPr>
          <p:cNvSpPr/>
          <p:nvPr/>
        </p:nvSpPr>
        <p:spPr>
          <a:xfrm rot="16200000">
            <a:off x="9890010" y="4912036"/>
            <a:ext cx="354782" cy="354782"/>
          </a:xfrm>
          <a:prstGeom prst="rtTriangle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30" name="직각 삼각형 29">
            <a:extLst>
              <a:ext uri="{FF2B5EF4-FFF2-40B4-BE49-F238E27FC236}">
                <a16:creationId xmlns:a16="http://schemas.microsoft.com/office/drawing/2014/main" id="{85143929-51DF-2BFD-AD63-2B4CA8CA7AFB}"/>
              </a:ext>
            </a:extLst>
          </p:cNvPr>
          <p:cNvSpPr/>
          <p:nvPr/>
        </p:nvSpPr>
        <p:spPr>
          <a:xfrm rot="16200000">
            <a:off x="20369528" y="4912036"/>
            <a:ext cx="354782" cy="354782"/>
          </a:xfrm>
          <a:prstGeom prst="rtTriangle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31" name="직각 삼각형 30">
            <a:extLst>
              <a:ext uri="{FF2B5EF4-FFF2-40B4-BE49-F238E27FC236}">
                <a16:creationId xmlns:a16="http://schemas.microsoft.com/office/drawing/2014/main" id="{804A6404-DF88-90AC-B7DC-B6935E99EBB4}"/>
              </a:ext>
            </a:extLst>
          </p:cNvPr>
          <p:cNvSpPr/>
          <p:nvPr/>
        </p:nvSpPr>
        <p:spPr>
          <a:xfrm rot="16200000">
            <a:off x="20067454" y="12250237"/>
            <a:ext cx="354782" cy="354782"/>
          </a:xfrm>
          <a:prstGeom prst="rtTriangle">
            <a:avLst/>
          </a:prstGeom>
          <a:solidFill>
            <a:srgbClr val="3A5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Pretendard JP" panose="02000503000000020004" pitchFamily="2" charset="-12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21265B-D804-8A10-D955-42B9973296BC}"/>
              </a:ext>
            </a:extLst>
          </p:cNvPr>
          <p:cNvSpPr txBox="1"/>
          <p:nvPr/>
        </p:nvSpPr>
        <p:spPr>
          <a:xfrm>
            <a:off x="18638836" y="1512428"/>
            <a:ext cx="2996119" cy="1416213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>
              <a:lnSpc>
                <a:spcPct val="125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Pretendard JP"/>
                <a:ea typeface="Pretendard JP"/>
                <a:cs typeface="Pretendard JP"/>
              </a:rPr>
              <a:t>정민규 </a:t>
            </a:r>
            <a:endParaRPr lang="en-US" altLang="ko-KR" sz="2000" dirty="0">
              <a:solidFill>
                <a:schemeClr val="bg1"/>
              </a:solidFill>
              <a:latin typeface="Pretendard JP"/>
              <a:ea typeface="Pretendard JP"/>
              <a:cs typeface="Pretendard JP"/>
            </a:endParaRPr>
          </a:p>
          <a:p>
            <a:pPr>
              <a:lnSpc>
                <a:spcPct val="125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Pretendard JP"/>
                <a:ea typeface="Pretendard JP"/>
                <a:cs typeface="Pretendard JP"/>
              </a:rPr>
              <a:t>이진우 </a:t>
            </a:r>
            <a:endParaRPr lang="en-US" altLang="ko-KR" sz="2000" dirty="0">
              <a:solidFill>
                <a:schemeClr val="bg1"/>
              </a:solidFill>
              <a:latin typeface="Pretendard JP"/>
              <a:ea typeface="Pretendard JP"/>
              <a:cs typeface="Pretendard JP"/>
            </a:endParaRPr>
          </a:p>
          <a:p>
            <a:pPr>
              <a:lnSpc>
                <a:spcPct val="125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Pretendard JP"/>
                <a:ea typeface="Pretendard JP"/>
                <a:cs typeface="Pretendard JP"/>
              </a:rPr>
              <a:t>문지민 </a:t>
            </a:r>
            <a:endParaRPr lang="en-US" altLang="ko-KR" sz="2000" dirty="0">
              <a:solidFill>
                <a:schemeClr val="bg1"/>
              </a:solidFill>
              <a:latin typeface="Pretendard JP"/>
              <a:ea typeface="Pretendard JP"/>
              <a:cs typeface="Pretendard JP"/>
            </a:endParaRPr>
          </a:p>
          <a:p>
            <a:pPr>
              <a:lnSpc>
                <a:spcPct val="125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Pretendard JP"/>
                <a:ea typeface="Pretendard JP"/>
                <a:cs typeface="Pretendard JP"/>
              </a:rPr>
              <a:t>정민성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B25C01-4D06-0849-B9A1-26837217A93F}"/>
              </a:ext>
            </a:extLst>
          </p:cNvPr>
          <p:cNvSpPr txBox="1"/>
          <p:nvPr/>
        </p:nvSpPr>
        <p:spPr>
          <a:xfrm>
            <a:off x="2213033" y="615373"/>
            <a:ext cx="2300470" cy="58477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ko-KR" altLang="en-US" sz="2800" b="1" dirty="0">
                <a:solidFill>
                  <a:srgbClr val="3A58DB"/>
                </a:solidFill>
                <a:latin typeface="Pretendard JP SemiBold"/>
                <a:ea typeface="Pretendard JP SemiBold"/>
                <a:cs typeface="Pretendard JP SemiBold"/>
              </a:rPr>
              <a:t>Team F4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1FC2F-3A06-7BF2-14EE-11195E50D72B}"/>
              </a:ext>
            </a:extLst>
          </p:cNvPr>
          <p:cNvSpPr txBox="1"/>
          <p:nvPr/>
        </p:nvSpPr>
        <p:spPr>
          <a:xfrm>
            <a:off x="2744789" y="1676644"/>
            <a:ext cx="15000000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6000" b="1" dirty="0">
                <a:solidFill>
                  <a:schemeClr val="bg1"/>
                </a:solidFill>
                <a:latin typeface="Pretendard JP SemiBold"/>
                <a:ea typeface="Pretendard JP SemiBold"/>
                <a:cs typeface="Pretendard JP SemiBold"/>
              </a:rPr>
              <a:t>영주시 출퇴근 </a:t>
            </a:r>
            <a:r>
              <a:rPr lang="ko-KR" altLang="en-US" sz="6000" b="1" dirty="0" err="1">
                <a:solidFill>
                  <a:schemeClr val="bg1"/>
                </a:solidFill>
                <a:latin typeface="Pretendard JP SemiBold"/>
                <a:ea typeface="Pretendard JP SemiBold"/>
                <a:cs typeface="Pretendard JP SemiBold"/>
              </a:rPr>
              <a:t>뚫어뻥</a:t>
            </a:r>
            <a:endParaRPr lang="ko-KR" altLang="en-US" sz="6000" b="1" dirty="0">
              <a:solidFill>
                <a:schemeClr val="bg1"/>
              </a:solidFill>
              <a:latin typeface="Pretendard JP SemiBold"/>
              <a:ea typeface="Pretendard JP SemiBold"/>
              <a:cs typeface="Pretendard JP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1D975-BD22-650B-B706-4D8B3C9DBB31}"/>
              </a:ext>
            </a:extLst>
          </p:cNvPr>
          <p:cNvSpPr txBox="1"/>
          <p:nvPr/>
        </p:nvSpPr>
        <p:spPr>
          <a:xfrm>
            <a:off x="659312" y="5499823"/>
            <a:ext cx="8084264" cy="4983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571500" indent="-571500">
              <a:lnSpc>
                <a:spcPct val="125000"/>
              </a:lnSpc>
              <a:buFont typeface="Wingdings" pitchFamily="2" charset="2"/>
              <a:buChar char="§"/>
              <a:defRPr sz="2800" b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1028700" lvl="1" indent="-571500">
              <a:lnSpc>
                <a:spcPct val="125000"/>
              </a:lnSpc>
              <a:buFont typeface="Arial" panose="020B0604020202020204" pitchFamily="34" charset="0"/>
              <a:buChar char="•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 marL="1485900" lvl="2" indent="-571500">
              <a:lnSpc>
                <a:spcPct val="125000"/>
              </a:lnSpc>
              <a:buFont typeface="시스템 서체 일반체"/>
              <a:buChar char="-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</a:lstStyle>
          <a:p>
            <a:r>
              <a:rPr lang="ko-KR" altLang="en-US" dirty="0"/>
              <a:t> 산단 구축에 따른 교통 문제 예측</a:t>
            </a:r>
          </a:p>
          <a:p>
            <a:pPr lvl="1"/>
            <a:r>
              <a:rPr lang="ko-KR" altLang="en-US" dirty="0"/>
              <a:t>영주 첨단베어링 국가산업단지 (2027년 준공)</a:t>
            </a:r>
          </a:p>
          <a:p>
            <a:pPr lvl="1"/>
            <a:r>
              <a:rPr lang="ko-KR" altLang="en-US" sz="2800" dirty="0"/>
              <a:t> </a:t>
            </a:r>
            <a:r>
              <a:rPr lang="ko-KR" altLang="en-US" dirty="0" err="1"/>
              <a:t>Tidal</a:t>
            </a:r>
            <a:r>
              <a:rPr lang="ko-KR" altLang="en-US" dirty="0"/>
              <a:t> Wave (조석 현상) 발생 우려</a:t>
            </a:r>
          </a:p>
          <a:p>
            <a:pPr lvl="1"/>
            <a:r>
              <a:rPr lang="ko-KR" altLang="en-US" dirty="0"/>
              <a:t> 현재 영주시 교통 인프라 한계</a:t>
            </a:r>
          </a:p>
          <a:p>
            <a:pPr lvl="1"/>
            <a:r>
              <a:rPr lang="ko-KR" altLang="en-US" dirty="0"/>
              <a:t> 대중교통 효율성 부재</a:t>
            </a:r>
          </a:p>
          <a:p>
            <a:pPr lvl="1"/>
            <a:r>
              <a:rPr lang="ko-KR" altLang="en-US" sz="2800" dirty="0"/>
              <a:t> </a:t>
            </a:r>
            <a:r>
              <a:rPr lang="ko-KR" altLang="en-US" dirty="0"/>
              <a:t>공유 </a:t>
            </a:r>
            <a:r>
              <a:rPr lang="ko-KR" altLang="en-US" dirty="0" err="1"/>
              <a:t>모빌리티</a:t>
            </a:r>
            <a:r>
              <a:rPr lang="ko-KR" altLang="en-US" dirty="0"/>
              <a:t> (</a:t>
            </a:r>
            <a:r>
              <a:rPr lang="ko-KR" altLang="en-US" dirty="0" err="1"/>
              <a:t>구르미</a:t>
            </a:r>
            <a:r>
              <a:rPr lang="ko-KR" altLang="en-US" dirty="0"/>
              <a:t>) 관광 편향</a:t>
            </a:r>
            <a:endParaRPr lang="ko-KR" altLang="en-US" sz="2000" dirty="0"/>
          </a:p>
          <a:p>
            <a:r>
              <a:rPr lang="ko-KR" altLang="en-US" dirty="0"/>
              <a:t> 해결 목표</a:t>
            </a:r>
          </a:p>
          <a:p>
            <a:pPr lvl="1"/>
            <a:r>
              <a:rPr lang="ko-KR" altLang="en-US" dirty="0"/>
              <a:t> 데이터 기반 셔틀버스 정류장 선정 및 노선 최적화</a:t>
            </a:r>
          </a:p>
          <a:p>
            <a:pPr lvl="1"/>
            <a:r>
              <a:rPr lang="ko-KR" altLang="en-US" dirty="0"/>
              <a:t> 공유 모빌리티 신규 거점으로 커버리지 대폭 확대</a:t>
            </a:r>
          </a:p>
          <a:p>
            <a:pPr lvl="1"/>
            <a:r>
              <a:rPr lang="ko-KR" altLang="en-US" dirty="0"/>
              <a:t> 교통 인프라 데드존 최소화 통합 교통 시스템 구축</a:t>
            </a:r>
          </a:p>
        </p:txBody>
      </p:sp>
      <p:sp>
        <p:nvSpPr>
          <p:cNvPr id="100" name="right_data_box"/>
          <p:cNvSpPr txBox="1"/>
          <p:nvPr/>
        </p:nvSpPr>
        <p:spPr>
          <a:xfrm>
            <a:off x="11138833" y="5469581"/>
            <a:ext cx="8430513" cy="58301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571500" indent="-571500">
              <a:lnSpc>
                <a:spcPct val="125000"/>
              </a:lnSpc>
              <a:buFont typeface="Wingdings" pitchFamily="2" charset="2"/>
              <a:buChar char="§"/>
              <a:defRPr sz="2800" b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1028700" lvl="1" indent="-571500">
              <a:lnSpc>
                <a:spcPct val="125000"/>
              </a:lnSpc>
              <a:buFont typeface="Arial" panose="020B0604020202020204" pitchFamily="34" charset="0"/>
              <a:buChar char="•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 marL="1485900" lvl="2" indent="-571500">
              <a:lnSpc>
                <a:spcPct val="125000"/>
              </a:lnSpc>
              <a:buFont typeface="시스템 서체 일반체"/>
              <a:buChar char="-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</a:lstStyle>
          <a:p>
            <a:r>
              <a:rPr lang="ko-KR" altLang="en-US" dirty="0"/>
              <a:t> 인구 / 수요 데이터</a:t>
            </a:r>
          </a:p>
          <a:p>
            <a:pPr lvl="1"/>
            <a:r>
              <a:rPr lang="ko-KR" altLang="en-US" dirty="0"/>
              <a:t>건축물대장 표제부 (국토교통부)</a:t>
            </a:r>
          </a:p>
          <a:p>
            <a:pPr lvl="1"/>
            <a:r>
              <a:rPr lang="ko-KR" altLang="en-US" dirty="0"/>
              <a:t>격자별 생산 가능 인구 (국토정보플랫폼</a:t>
            </a:r>
            <a:r>
              <a:rPr lang="en-US" altLang="ko-KR" dirty="0"/>
              <a:t>_</a:t>
            </a:r>
            <a:r>
              <a:rPr lang="ko-KR" altLang="en-US" dirty="0" err="1"/>
              <a:t>국토정보맵</a:t>
            </a:r>
            <a:r>
              <a:rPr lang="ko-KR" altLang="en-US" dirty="0"/>
              <a:t>)</a:t>
            </a:r>
          </a:p>
          <a:p>
            <a:pPr lvl="1"/>
            <a:r>
              <a:rPr lang="ko-KR" altLang="en-US" dirty="0" err="1"/>
              <a:t>통근·통학</a:t>
            </a:r>
            <a:r>
              <a:rPr lang="ko-KR" altLang="en-US" dirty="0"/>
              <a:t> OD 데이터 (통계청, 2020)</a:t>
            </a:r>
          </a:p>
          <a:p>
            <a:pPr lvl="1"/>
            <a:r>
              <a:rPr lang="ko-KR" altLang="en-US" dirty="0"/>
              <a:t>제조업 교통수단별 통근 인구 (통계청, 2020)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위치 / 인프라 데이터</a:t>
            </a:r>
          </a:p>
          <a:p>
            <a:pPr lvl="1"/>
            <a:r>
              <a:rPr lang="ko-KR" altLang="en-US" dirty="0"/>
              <a:t>영주시 버스 정류장 891개소 (공공데이터포털)</a:t>
            </a:r>
          </a:p>
          <a:p>
            <a:pPr lvl="1"/>
            <a:r>
              <a:rPr lang="ko-KR" altLang="en-US" dirty="0" err="1"/>
              <a:t>구르미</a:t>
            </a:r>
            <a:r>
              <a:rPr lang="ko-KR" altLang="en-US" dirty="0"/>
              <a:t> 기존 거점 7개소 위치 (영주시)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교통 통행 데이터</a:t>
            </a:r>
          </a:p>
          <a:p>
            <a:pPr lvl="1"/>
            <a:r>
              <a:rPr lang="ko-KR" altLang="en-US" dirty="0"/>
              <a:t>카카오 로컬 API (지오코딩 + 실제 도로거리 산출)</a:t>
            </a:r>
          </a:p>
        </p:txBody>
      </p:sp>
      <p:sp>
        <p:nvSpPr>
          <p:cNvPr id="102" name="analysis_right_box"/>
          <p:cNvSpPr txBox="1"/>
          <p:nvPr/>
        </p:nvSpPr>
        <p:spPr>
          <a:xfrm>
            <a:off x="11138833" y="16828070"/>
            <a:ext cx="6865982" cy="5905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571500" indent="-571500">
              <a:lnSpc>
                <a:spcPct val="125000"/>
              </a:lnSpc>
              <a:buFont typeface="Wingdings" pitchFamily="2" charset="2"/>
              <a:buChar char="§"/>
              <a:defRPr sz="2800" b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1028700" lvl="1" indent="-571500">
              <a:lnSpc>
                <a:spcPct val="125000"/>
              </a:lnSpc>
              <a:buFont typeface="Arial" panose="020B0604020202020204" pitchFamily="34" charset="0"/>
              <a:buChar char="•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 marL="1485900" lvl="2" indent="-571500">
              <a:lnSpc>
                <a:spcPct val="125000"/>
              </a:lnSpc>
              <a:buFont typeface="시스템 서체 일반체"/>
              <a:buChar char="-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</a:lstStyle>
          <a:p>
            <a:r>
              <a:rPr lang="ko-KR" altLang="en-US" dirty="0"/>
              <a:t>셔틀 버스 노선 최적화 및 최적 버스 수</a:t>
            </a:r>
            <a:endParaRPr lang="en-US" altLang="ko-KR" dirty="0"/>
          </a:p>
          <a:p>
            <a:pPr lvl="1"/>
            <a:r>
              <a:rPr lang="en-US" altLang="ko-KR" dirty="0"/>
              <a:t>VRP </a:t>
            </a:r>
            <a:r>
              <a:rPr lang="ko-KR" altLang="en-US" dirty="0"/>
              <a:t>알고리즘 이용</a:t>
            </a:r>
            <a:endParaRPr lang="en-US" altLang="ko-KR" dirty="0"/>
          </a:p>
          <a:p>
            <a:pPr lvl="1"/>
            <a:r>
              <a:rPr lang="ko-KR" altLang="en-US" dirty="0"/>
              <a:t>목적함수와 제약조건 입력</a:t>
            </a:r>
            <a:endParaRPr lang="en-US" altLang="ko-KR" dirty="0"/>
          </a:p>
          <a:p>
            <a:pPr lvl="1"/>
            <a:r>
              <a:rPr lang="ko-KR" altLang="en-US" dirty="0"/>
              <a:t>산출물 </a:t>
            </a:r>
            <a:r>
              <a:rPr lang="en-US" altLang="ko-KR" dirty="0"/>
              <a:t>: </a:t>
            </a:r>
            <a:r>
              <a:rPr lang="ko-KR" altLang="en-US" dirty="0"/>
              <a:t>노선</a:t>
            </a:r>
            <a:r>
              <a:rPr lang="en-US" altLang="ko-KR" dirty="0"/>
              <a:t>(</a:t>
            </a:r>
            <a:r>
              <a:rPr lang="ko-KR" altLang="en-US" dirty="0"/>
              <a:t>정류장 순서</a:t>
            </a:r>
            <a:r>
              <a:rPr lang="en-US" altLang="ko-KR" dirty="0"/>
              <a:t>) </a:t>
            </a:r>
            <a:r>
              <a:rPr lang="ko-KR" altLang="en-US" dirty="0"/>
              <a:t>와 버스 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구르미</a:t>
            </a:r>
            <a:r>
              <a:rPr lang="ko-KR" altLang="en-US" dirty="0"/>
              <a:t> 신규 거점 선정 (4가지 유형)</a:t>
            </a:r>
          </a:p>
          <a:p>
            <a:pPr lvl="1"/>
            <a:r>
              <a:rPr lang="ko-KR" altLang="en-US" dirty="0"/>
              <a:t>출발지 – 셔틀 이용자</a:t>
            </a:r>
          </a:p>
          <a:p>
            <a:pPr lvl="1"/>
            <a:r>
              <a:rPr lang="ko-KR" altLang="en-US" dirty="0"/>
              <a:t>출발지 – </a:t>
            </a:r>
            <a:r>
              <a:rPr lang="ko-KR" altLang="en-US" dirty="0" err="1"/>
              <a:t>데드존</a:t>
            </a:r>
            <a:r>
              <a:rPr lang="ko-KR" altLang="en-US" dirty="0"/>
              <a:t> 이용자</a:t>
            </a:r>
          </a:p>
          <a:p>
            <a:pPr lvl="1"/>
            <a:r>
              <a:rPr lang="ko-KR" altLang="en-US" dirty="0"/>
              <a:t>도착지 – 역 연계</a:t>
            </a:r>
          </a:p>
          <a:p>
            <a:pPr lvl="1"/>
            <a:r>
              <a:rPr lang="ko-KR" altLang="en-US" dirty="0"/>
              <a:t>도착지 – </a:t>
            </a:r>
            <a:r>
              <a:rPr lang="ko-KR" altLang="en-US" dirty="0" err="1"/>
              <a:t>산단</a:t>
            </a:r>
            <a:r>
              <a:rPr lang="ko-KR" altLang="en-US" dirty="0"/>
              <a:t> 직접 통근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103" name="result_left_box"/>
          <p:cNvSpPr txBox="1"/>
          <p:nvPr/>
        </p:nvSpPr>
        <p:spPr>
          <a:xfrm>
            <a:off x="10836757" y="12572201"/>
            <a:ext cx="7890302" cy="42197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571500" indent="-571500">
              <a:lnSpc>
                <a:spcPct val="125000"/>
              </a:lnSpc>
              <a:buFont typeface="Wingdings" pitchFamily="2" charset="2"/>
              <a:buChar char="§"/>
              <a:defRPr sz="2800" b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1028700" lvl="1" indent="-571500">
              <a:lnSpc>
                <a:spcPct val="125000"/>
              </a:lnSpc>
              <a:buFont typeface="Arial" panose="020B0604020202020204" pitchFamily="34" charset="0"/>
              <a:buChar char="•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 marL="1485900" lvl="2" indent="-571500">
              <a:lnSpc>
                <a:spcPct val="125000"/>
              </a:lnSpc>
              <a:buFont typeface="시스템 서체 일반체"/>
              <a:buChar char="-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</a:lstStyle>
          <a:p>
            <a:r>
              <a:rPr lang="ko-KR" altLang="en-US" dirty="0"/>
              <a:t>셔틀버스 정류장 16개소 확정</a:t>
            </a:r>
          </a:p>
          <a:p>
            <a:pPr lvl="1"/>
            <a:r>
              <a:rPr lang="ko-KR" altLang="en-US" dirty="0" err="1"/>
              <a:t>영주역</a:t>
            </a:r>
            <a:r>
              <a:rPr lang="ko-KR" altLang="en-US" dirty="0"/>
              <a:t> 권역 (13개소)</a:t>
            </a:r>
          </a:p>
          <a:p>
            <a:pPr lvl="1"/>
            <a:r>
              <a:rPr lang="ko-KR" altLang="en-US" dirty="0" err="1"/>
              <a:t>풍기역</a:t>
            </a:r>
            <a:r>
              <a:rPr lang="ko-KR" altLang="en-US" dirty="0"/>
              <a:t> 권역 (3개소)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 err="1"/>
              <a:t>구르미</a:t>
            </a:r>
            <a:r>
              <a:rPr lang="ko-KR" altLang="en-US" dirty="0"/>
              <a:t> 커버리지 분석 결과</a:t>
            </a:r>
          </a:p>
          <a:p>
            <a:pPr lvl="1"/>
            <a:r>
              <a:rPr lang="ko-KR" altLang="en-US" dirty="0"/>
              <a:t>기존 7개소: 출퇴근 주거지 기준 커버리지 8.4%</a:t>
            </a:r>
          </a:p>
          <a:p>
            <a:pPr lvl="1"/>
            <a:r>
              <a:rPr lang="ko-KR" altLang="en-US" dirty="0"/>
              <a:t>신규 20개소 추가 후: 커버리지 52.4% (+44.0%p)</a:t>
            </a:r>
          </a:p>
          <a:p>
            <a:pPr lvl="2"/>
            <a:r>
              <a:rPr lang="ko-KR" altLang="en-US" sz="2000" dirty="0"/>
              <a:t>거점 간 최소 300m 이상 유지 조건 적용</a:t>
            </a:r>
          </a:p>
          <a:p>
            <a:pPr lvl="2"/>
            <a:r>
              <a:rPr lang="ko-KR" altLang="en-US" sz="2000" dirty="0"/>
              <a:t>현장 로드뷰 검증으로 실제 설치 가능 위치 확정</a:t>
            </a:r>
          </a:p>
        </p:txBody>
      </p:sp>
      <p:sp>
        <p:nvSpPr>
          <p:cNvPr id="105" name="conclusion_box"/>
          <p:cNvSpPr txBox="1"/>
          <p:nvPr/>
        </p:nvSpPr>
        <p:spPr>
          <a:xfrm>
            <a:off x="659312" y="23088315"/>
            <a:ext cx="12423641" cy="590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571500" indent="-571500">
              <a:lnSpc>
                <a:spcPct val="125000"/>
              </a:lnSpc>
              <a:buFont typeface="Wingdings" pitchFamily="2" charset="2"/>
              <a:buChar char="§"/>
              <a:defRPr sz="2800" b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1028700" lvl="1" indent="-571500">
              <a:lnSpc>
                <a:spcPct val="125000"/>
              </a:lnSpc>
              <a:buFont typeface="Arial" panose="020B0604020202020204" pitchFamily="34" charset="0"/>
              <a:buChar char="•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 marL="1485900" lvl="2" indent="-571500">
              <a:lnSpc>
                <a:spcPct val="125000"/>
              </a:lnSpc>
              <a:buFont typeface="시스템 서체 일반체"/>
              <a:buChar char="-"/>
              <a:defRPr sz="20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</a:lstStyle>
          <a:p>
            <a:r>
              <a:rPr lang="ko-KR" altLang="en-US" dirty="0"/>
              <a:t> 교통 혼잡 사전 완화</a:t>
            </a:r>
          </a:p>
          <a:p>
            <a:pPr lvl="1"/>
            <a:r>
              <a:rPr lang="ko-KR" altLang="en-US" dirty="0"/>
              <a:t> 셔틀버스 16개 정류장 + VRP 노선으로 산단 근로자 출퇴근 분산</a:t>
            </a:r>
          </a:p>
          <a:p>
            <a:pPr lvl="1"/>
            <a:r>
              <a:rPr lang="ko-KR" altLang="en-US" dirty="0"/>
              <a:t> 출퇴근 시간대 기존 버스 집중(42.2%) 완화 → 도로 혼잡 감소 기여</a:t>
            </a:r>
          </a:p>
          <a:p>
            <a:r>
              <a:rPr lang="ko-KR" altLang="en-US" dirty="0"/>
              <a:t> 공유 모빌리티 활성화</a:t>
            </a:r>
          </a:p>
          <a:p>
            <a:pPr lvl="1"/>
            <a:r>
              <a:rPr lang="ko-KR" altLang="en-US" dirty="0"/>
              <a:t> 구르미 커버리지 8.4% → 52.4%로 향상 (+44.0%p)</a:t>
            </a:r>
          </a:p>
          <a:p>
            <a:pPr lvl="1"/>
            <a:r>
              <a:rPr lang="ko-KR" altLang="en-US" dirty="0"/>
              <a:t> 관광 편향에서 출퇴근 목적 실질 이용 체계로 전환</a:t>
            </a:r>
          </a:p>
          <a:p>
            <a:r>
              <a:rPr lang="ko-KR" altLang="en-US" dirty="0"/>
              <a:t> 데이터 기반 방법론의 재활용 가능성</a:t>
            </a:r>
          </a:p>
          <a:p>
            <a:pPr lvl="1"/>
            <a:r>
              <a:rPr lang="ko-KR" altLang="en-US" dirty="0"/>
              <a:t> 가중치 산출 → K-Means → </a:t>
            </a:r>
            <a:r>
              <a:rPr lang="ko-KR" altLang="en-US" dirty="0" err="1"/>
              <a:t>VRP는</a:t>
            </a:r>
            <a:r>
              <a:rPr lang="ko-KR" altLang="en-US" dirty="0"/>
              <a:t> </a:t>
            </a:r>
            <a:r>
              <a:rPr lang="ko-KR" altLang="en-US" dirty="0" err="1"/>
              <a:t>산단·지자체에도</a:t>
            </a:r>
            <a:r>
              <a:rPr lang="ko-KR" altLang="en-US" dirty="0"/>
              <a:t> 적용 가능</a:t>
            </a:r>
          </a:p>
          <a:p>
            <a:pPr lvl="1"/>
            <a:r>
              <a:rPr lang="ko-KR" altLang="en-US" dirty="0"/>
              <a:t> 영주시 신규 개발 지역 교통 계획 수립 시 즉시 활용 가능한 프레임워크</a:t>
            </a:r>
          </a:p>
          <a:p>
            <a:r>
              <a:rPr lang="ko-KR" altLang="en-US" dirty="0"/>
              <a:t> 젊은 근로 인구 유입 → 지역 활성화</a:t>
            </a:r>
          </a:p>
          <a:p>
            <a:pPr lvl="1"/>
            <a:r>
              <a:rPr lang="ko-KR" altLang="en-US" dirty="0"/>
              <a:t> 통근 편의성 향상으로 영주시 정착 유도 → 인구 감소 문제 완화</a:t>
            </a:r>
          </a:p>
          <a:p>
            <a:pPr lvl="1"/>
            <a:r>
              <a:rPr lang="ko-KR" altLang="en-US" dirty="0"/>
              <a:t> 자가용 통근 대비 셔틀·자전거 이용 전환으로 탄소 배출 감소 기여</a:t>
            </a:r>
          </a:p>
        </p:txBody>
      </p:sp>
      <p:sp>
        <p:nvSpPr>
          <p:cNvPr id="10" name="analysis_left_box">
            <a:extLst>
              <a:ext uri="{FF2B5EF4-FFF2-40B4-BE49-F238E27FC236}">
                <a16:creationId xmlns:a16="http://schemas.microsoft.com/office/drawing/2014/main" id="{846E6596-D817-0CC8-E201-EABB187B248F}"/>
              </a:ext>
            </a:extLst>
          </p:cNvPr>
          <p:cNvSpPr txBox="1"/>
          <p:nvPr/>
        </p:nvSpPr>
        <p:spPr>
          <a:xfrm>
            <a:off x="659312" y="11879704"/>
            <a:ext cx="8084264" cy="5143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571500" indent="-571500">
              <a:lnSpc>
                <a:spcPct val="125000"/>
              </a:lnSpc>
              <a:buFont typeface="Wingdings" pitchFamily="2" charset="2"/>
              <a:buChar char="§"/>
              <a:defRPr sz="2800" b="1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1pPr>
            <a:lvl2pPr marL="1028700" lvl="1" indent="-571500">
              <a:lnSpc>
                <a:spcPct val="125000"/>
              </a:lnSpc>
              <a:buFont typeface="Arial" panose="020B0604020202020204" pitchFamily="34" charset="0"/>
              <a:buChar char="•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2pPr>
            <a:lvl3pPr marL="1485900" lvl="2" indent="-571500">
              <a:lnSpc>
                <a:spcPct val="125000"/>
              </a:lnSpc>
              <a:buFont typeface="시스템 서체 일반체"/>
              <a:buChar char="-"/>
              <a:defRPr sz="2400">
                <a:latin typeface="Pretendard JP" panose="02000503000000020004" pitchFamily="2" charset="-128"/>
                <a:ea typeface="Pretendard JP" panose="02000503000000020004" pitchFamily="2" charset="-128"/>
                <a:cs typeface="Pretendard JP" panose="02000503000000020004" pitchFamily="2" charset="-128"/>
              </a:defRPr>
            </a:lvl3pPr>
          </a:lstStyle>
          <a:p>
            <a:r>
              <a:rPr lang="ko-KR" altLang="en-US" sz="2000" dirty="0"/>
              <a:t> </a:t>
            </a:r>
            <a:r>
              <a:rPr lang="ko-KR" altLang="en-US" dirty="0"/>
              <a:t> K-</a:t>
            </a:r>
            <a:r>
              <a:rPr lang="ko-KR" altLang="en-US" dirty="0" err="1"/>
              <a:t>Means</a:t>
            </a:r>
            <a:r>
              <a:rPr lang="ko-KR" altLang="en-US" dirty="0"/>
              <a:t> 클러스터링 (셔틀 정류장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 K-</a:t>
            </a:r>
            <a:r>
              <a:rPr lang="ko-KR" altLang="en-US" dirty="0" err="1"/>
              <a:t>Means</a:t>
            </a:r>
            <a:r>
              <a:rPr lang="ko-KR" altLang="en-US" dirty="0"/>
              <a:t>++ (K=50) 및 유효 클러스터 선별</a:t>
            </a:r>
          </a:p>
          <a:p>
            <a:pPr lvl="2"/>
            <a:r>
              <a:rPr lang="ko-KR" altLang="en-US" sz="2000" dirty="0"/>
              <a:t>결과: 16개 유효 클러스터 도출</a:t>
            </a:r>
          </a:p>
          <a:p>
            <a:pPr lvl="2"/>
            <a:r>
              <a:rPr lang="ko-KR" altLang="en-US" sz="2000" dirty="0" err="1"/>
              <a:t>영주역</a:t>
            </a:r>
            <a:r>
              <a:rPr lang="ko-KR" altLang="en-US" sz="2000" dirty="0"/>
              <a:t> 근처 13개 + </a:t>
            </a:r>
            <a:r>
              <a:rPr lang="ko-KR" altLang="en-US" sz="2000" dirty="0" err="1"/>
              <a:t>풍기역</a:t>
            </a:r>
            <a:r>
              <a:rPr lang="ko-KR" altLang="en-US" sz="2000" dirty="0"/>
              <a:t> 근처 3개</a:t>
            </a:r>
          </a:p>
          <a:p>
            <a:pPr lvl="2"/>
            <a:r>
              <a:rPr lang="ko-KR" altLang="en-US" sz="2000" dirty="0"/>
              <a:t>탈락 건물 (</a:t>
            </a:r>
            <a:r>
              <a:rPr lang="ko-KR" altLang="en-US" sz="2000" dirty="0" err="1"/>
              <a:t>데드존</a:t>
            </a:r>
            <a:r>
              <a:rPr lang="ko-KR" altLang="en-US" sz="2000" dirty="0"/>
              <a:t>): 약 2,819개 </a:t>
            </a:r>
            <a:endParaRPr lang="en-US" altLang="ko-KR" sz="2000" dirty="0"/>
          </a:p>
          <a:p>
            <a:pPr lvl="2"/>
            <a:endParaRPr lang="en-US" altLang="ko-KR" sz="2000" dirty="0"/>
          </a:p>
          <a:p>
            <a:r>
              <a:rPr lang="en-US" altLang="ko-KR" dirty="0"/>
              <a:t>VRP</a:t>
            </a:r>
            <a:r>
              <a:rPr lang="ko-KR" altLang="en-US" dirty="0"/>
              <a:t> 노선 최적화 </a:t>
            </a:r>
            <a:r>
              <a:rPr lang="en-US" altLang="ko-KR" dirty="0"/>
              <a:t>(</a:t>
            </a:r>
            <a:r>
              <a:rPr lang="ko-KR" altLang="en-US" dirty="0"/>
              <a:t>셔틀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 데이터 기반 셔틀버스 정류장 선정 및 노선 최적화</a:t>
            </a:r>
            <a:endParaRPr lang="ko-KR" altLang="en-US" sz="2000" dirty="0"/>
          </a:p>
          <a:p>
            <a:pPr lvl="2"/>
            <a:r>
              <a:rPr lang="ko-KR" altLang="en-US" sz="2000" dirty="0"/>
              <a:t>카카오 API → 정류장 간 실제 도로거리 산출</a:t>
            </a:r>
          </a:p>
          <a:p>
            <a:pPr lvl="2"/>
            <a:r>
              <a:rPr lang="ko-KR" altLang="en-US" sz="2000" dirty="0"/>
              <a:t>OR-</a:t>
            </a:r>
            <a:r>
              <a:rPr lang="ko-KR" altLang="en-US" sz="2000" dirty="0" err="1"/>
              <a:t>Tools</a:t>
            </a:r>
            <a:r>
              <a:rPr lang="ko-KR" altLang="en-US" sz="2000" dirty="0"/>
              <a:t> VRP 알고리즘</a:t>
            </a:r>
          </a:p>
          <a:p>
            <a:pPr lvl="2"/>
            <a:r>
              <a:rPr lang="ko-KR" altLang="en-US" sz="2000" dirty="0"/>
              <a:t>목적함수: 전체 이동 시간 최소화</a:t>
            </a:r>
          </a:p>
          <a:p>
            <a:pPr lvl="2"/>
            <a:r>
              <a:rPr lang="ko-KR" altLang="en-US" sz="2000" dirty="0"/>
              <a:t>제약: 차량 정원 / 시간 제한 / 최대 거리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EAD5FDE-2CDD-9505-3BD0-06DFDEB5E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855" y="17117816"/>
            <a:ext cx="7800391" cy="463694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827F56E-CEC4-8E7A-9F55-B5A8F5516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3600" y="22014284"/>
            <a:ext cx="4808707" cy="440658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A4DE7A-B989-79D7-717C-05E3AB7CF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5550" y="22014283"/>
            <a:ext cx="4626617" cy="440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68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644655A60F0EA46AA22CF24F2D7CFCD" ma:contentTypeVersion="4" ma:contentTypeDescription="새 문서를 만듭니다." ma:contentTypeScope="" ma:versionID="a5553708ae5f60c7550185de28e6c358">
  <xsd:schema xmlns:xsd="http://www.w3.org/2001/XMLSchema" xmlns:xs="http://www.w3.org/2001/XMLSchema" xmlns:p="http://schemas.microsoft.com/office/2006/metadata/properties" xmlns:ns3="36f7d407-508e-4321-9703-f017eaf64e73" targetNamespace="http://schemas.microsoft.com/office/2006/metadata/properties" ma:root="true" ma:fieldsID="77d460e6ea107f5d03492143d1abcd37" ns3:_="">
    <xsd:import namespace="36f7d407-508e-4321-9703-f017eaf64e7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f7d407-508e-4321-9703-f017eaf64e7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39BB0-53B8-40A5-8BB9-15D2ED1AEBC9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36f7d407-508e-4321-9703-f017eaf64e73"/>
    <ds:schemaRef ds:uri="http://purl.org/dc/dcmitype/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C503C18-BF66-4632-9FE9-DDF1BCD074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984CED-F49C-48F8-99AA-2C7DCB4524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f7d407-508e-4321-9703-f017eaf64e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</TotalTime>
  <Words>485</Words>
  <Application>Microsoft Office PowerPoint</Application>
  <PresentationFormat>사용자 지정</PresentationFormat>
  <Paragraphs>77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 JP</vt:lpstr>
      <vt:lpstr>Pretendard JP SemiBold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이동건</dc:creator>
  <cp:lastModifiedBy>정민규/산업경영공학과</cp:lastModifiedBy>
  <cp:revision>14</cp:revision>
  <dcterms:created xsi:type="dcterms:W3CDTF">2025-05-01T02:12:14Z</dcterms:created>
  <dcterms:modified xsi:type="dcterms:W3CDTF">2026-05-04T20:53:36Z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0x0101007644655A60F0EA46AA22CF24F2D7CFCD</vt:lpwstr>
  </property>
</Properties>
</file>